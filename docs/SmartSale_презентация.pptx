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463040"/>
            <a:ext cx="4572000" cy="4572000"/>
          </a:xfrm>
          <a:prstGeom prst="ellipse">
            <a:avLst/>
          </a:prstGeom>
          <a:solidFill>
            <a:srgbClr val="0E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3840480"/>
            <a:ext cx="3200400" cy="3200400"/>
          </a:xfrm>
          <a:prstGeom prst="ellipse">
            <a:avLst/>
          </a:prstGeom>
          <a:solidFill>
            <a:srgbClr val="0E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371600"/>
            <a:ext cx="822960" cy="82296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B2E36"/>
                </a:solidFill>
                <a:latin typeface="Calibri"/>
              </a:rPr>
              <a:t>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188720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SmartSale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0">
                <a:solidFill>
                  <a:srgbClr val="D7ECE8"/>
                </a:solidFill>
                <a:latin typeface="Calibri"/>
              </a:rPr>
              <a:t>Мобильная торговля и обмен с 1С:Управление торговлей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A9CDC7"/>
                </a:solidFill>
                <a:latin typeface="Calibri"/>
              </a:rPr>
              <a:t>Собственное решение взамен «Моби-С» — приложение торгового агента,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A9CDC7"/>
                </a:solidFill>
                <a:latin typeface="Calibri"/>
              </a:rPr>
              <a:t>двусторонний обмен с УТ и рабочие места супервайзера.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623560"/>
            <a:ext cx="2926080" cy="3175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8B4AD"/>
                </a:solidFill>
                <a:latin typeface="Calibri"/>
              </a:rPr>
              <a:t>Презентация для руководства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7313A"/>
                </a:solidFill>
                <a:latin typeface="Calibri"/>
              </a:rPr>
              <a:t>Зачем: своя система вместо стороннего продукта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5212080" cy="4663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0808E"/>
                </a:solidFill>
                <a:latin typeface="Calibri"/>
              </a:rPr>
              <a:t>БЫЛО — «Моби-С»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50808E"/>
                </a:solidFill>
                <a:latin typeface="Calibri"/>
              </a:rPr>
              <a:t>•  </a:t>
            </a:r>
            <a:r>
              <a:rPr sz="1500">
                <a:solidFill>
                  <a:srgbClr val="17313A"/>
                </a:solidFill>
                <a:latin typeface="Calibri"/>
              </a:rPr>
              <a:t>Продукт отклонён — не подошёл под процессы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50808E"/>
                </a:solidFill>
                <a:latin typeface="Calibri"/>
              </a:rPr>
              <a:t>•  </a:t>
            </a:r>
            <a:r>
              <a:rPr sz="1500">
                <a:solidFill>
                  <a:srgbClr val="17313A"/>
                </a:solidFill>
                <a:latin typeface="Calibri"/>
              </a:rPr>
              <a:t>Зависимость от стороннего вендора и его сроков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50808E"/>
                </a:solidFill>
                <a:latin typeface="Calibri"/>
              </a:rPr>
              <a:t>•  </a:t>
            </a:r>
            <a:r>
              <a:rPr sz="1500">
                <a:solidFill>
                  <a:srgbClr val="17313A"/>
                </a:solidFill>
                <a:latin typeface="Calibri"/>
              </a:rPr>
              <a:t>Ограниченные доработки под наши задачи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50808E"/>
                </a:solidFill>
                <a:latin typeface="Calibri"/>
              </a:rPr>
              <a:t>•  </a:t>
            </a:r>
            <a:r>
              <a:rPr sz="1500">
                <a:solidFill>
                  <a:srgbClr val="17313A"/>
                </a:solidFill>
                <a:latin typeface="Calibri"/>
              </a:rPr>
              <a:t>Скидки и акции агенту видны не полностью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50808E"/>
                </a:solidFill>
                <a:latin typeface="Calibri"/>
              </a:rPr>
              <a:t>•  </a:t>
            </a:r>
            <a:r>
              <a:rPr sz="1500">
                <a:solidFill>
                  <a:srgbClr val="17313A"/>
                </a:solidFill>
                <a:latin typeface="Calibri"/>
              </a:rPr>
              <a:t>Мастер-данные и логика — в чужом продукте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212080" cy="4663440"/>
          </a:xfrm>
          <a:prstGeom prst="roundRect">
            <a:avLst>
              <a:gd name="adj" fmla="val 6000"/>
            </a:avLst>
          </a:prstGeom>
          <a:solidFill>
            <a:srgbClr val="E8F5F1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28090"/>
                </a:solidFill>
                <a:latin typeface="Calibri"/>
              </a:rPr>
              <a:t>СТАЛО — SmartSale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31720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✓  </a:t>
            </a:r>
            <a:r>
              <a:rPr sz="1500">
                <a:solidFill>
                  <a:srgbClr val="17313A"/>
                </a:solidFill>
                <a:latin typeface="Calibri"/>
              </a:rPr>
              <a:t>Полностью своё решение, исходники у нас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✓  </a:t>
            </a:r>
            <a:r>
              <a:rPr sz="1500">
                <a:solidFill>
                  <a:srgbClr val="17313A"/>
                </a:solidFill>
                <a:latin typeface="Calibri"/>
              </a:rPr>
              <a:t>Доработки без ограничений и по нашим срокам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✓  </a:t>
            </a:r>
            <a:r>
              <a:rPr sz="1500">
                <a:solidFill>
                  <a:srgbClr val="17313A"/>
                </a:solidFill>
                <a:latin typeface="Calibri"/>
              </a:rPr>
              <a:t>Единая учётная система — всё сводится в 1С:УТ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✓  </a:t>
            </a:r>
            <a:r>
              <a:rPr sz="1500">
                <a:solidFill>
                  <a:srgbClr val="17313A"/>
                </a:solidFill>
                <a:latin typeface="Calibri"/>
              </a:rPr>
              <a:t>Свой движок акций, кредитный контроль, трек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✓  </a:t>
            </a:r>
            <a:r>
              <a:rPr sz="1500">
                <a:solidFill>
                  <a:srgbClr val="17313A"/>
                </a:solidFill>
                <a:latin typeface="Calibri"/>
              </a:rPr>
              <a:t>Мастер-данные и правила — под контролем офиса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7313A"/>
                </a:solidFill>
                <a:latin typeface="Calibri"/>
              </a:rPr>
              <a:t>Ценность для бизнеса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84708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865376"/>
            <a:ext cx="23774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7313A"/>
                </a:solidFill>
                <a:latin typeface="Calibri"/>
              </a:rPr>
              <a:t>Независимость от вендора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06039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C82"/>
                </a:solidFill>
                <a:latin typeface="Calibri"/>
              </a:rPr>
              <a:t>Своё решение, исходный код и развитие — внутри компании.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554480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09160" y="184708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828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865376"/>
            <a:ext cx="23774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7313A"/>
                </a:solidFill>
                <a:latin typeface="Calibri"/>
              </a:rPr>
              <a:t>Контроль работы агентов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2606039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C82"/>
                </a:solidFill>
                <a:latin typeface="Calibri"/>
              </a:rPr>
              <a:t>Визиты с GPS, фоновый трек маршрута, время у каждого клиента.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554480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03920" y="184708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1828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1865376"/>
            <a:ext cx="23774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7313A"/>
                </a:solidFill>
                <a:latin typeface="Calibri"/>
              </a:rPr>
              <a:t>Кредитная дисциплина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8" y="2606039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C82"/>
                </a:solidFill>
                <a:latin typeface="Calibri"/>
              </a:rPr>
              <a:t>Лимиты и просрочка из УТ, блокировка заказов должникам.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77639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42702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51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288536"/>
            <a:ext cx="23774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7313A"/>
                </a:solidFill>
                <a:latin typeface="Calibri"/>
              </a:rPr>
              <a:t>Гибкие доработки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5029200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C82"/>
                </a:solidFill>
                <a:latin typeface="Calibri"/>
              </a:rPr>
              <a:t>Новые функции и рабочие места — по мере надобности.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3977639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09160" y="42702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4251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4288536"/>
            <a:ext cx="23774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7313A"/>
                </a:solidFill>
                <a:latin typeface="Calibri"/>
              </a:rPr>
              <a:t>Данные под контролем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5029200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C82"/>
                </a:solidFill>
                <a:latin typeface="Calibri"/>
              </a:rPr>
              <a:t>Новых клиентов и правила заводит офис, а не агент в поле.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3977639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03920" y="42702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0" y="4251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4288536"/>
            <a:ext cx="23774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7313A"/>
                </a:solidFill>
                <a:latin typeface="Calibri"/>
              </a:rPr>
              <a:t>Единый учёт в 1С:УТ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2208" y="5029200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C82"/>
                </a:solidFill>
                <a:latin typeface="Calibri"/>
              </a:rPr>
              <a:t>Заказы, оплаты, задания, координаты — сразу в учёте.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Из чего состоит система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43687" y="228600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03C46"/>
          </a:solidFill>
          <a:ln w="19050"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615287" y="2606040"/>
            <a:ext cx="640080" cy="64008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15287" y="258775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2E3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567" y="338328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Приложение агента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287" y="3977639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D7ECE8"/>
                </a:solidFill>
                <a:latin typeface="Calibri"/>
              </a:rPr>
              <a:t>Android, работает офлайн:</a:t>
            </a:r>
          </a:p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D7ECE8"/>
                </a:solidFill>
                <a:latin typeface="Calibri"/>
              </a:rPr>
              <a:t>заказы, оплаты, визиты,</a:t>
            </a:r>
          </a:p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D7ECE8"/>
                </a:solidFill>
                <a:latin typeface="Calibri"/>
              </a:rPr>
              <a:t>задания, трек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2687" y="3246120"/>
            <a:ext cx="685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28090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4207" y="228600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03C46"/>
          </a:solidFill>
          <a:ln w="19050">
            <a:solidFill>
              <a:srgbClr val="58C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75807" y="2606040"/>
            <a:ext cx="640080" cy="640080"/>
          </a:xfrm>
          <a:prstGeom prst="ellipse">
            <a:avLst/>
          </a:prstGeom>
          <a:solidFill>
            <a:srgbClr val="58C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75807" y="258775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2E36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7087" y="338328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Сервер-шина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2807" y="3977639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D7ECE8"/>
                </a:solidFill>
                <a:latin typeface="Calibri"/>
              </a:rPr>
              <a:t>Приём с телефонов,</a:t>
            </a:r>
          </a:p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D7ECE8"/>
                </a:solidFill>
                <a:latin typeface="Calibri"/>
              </a:rPr>
              <a:t>хранение, надёжная</a:t>
            </a:r>
          </a:p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D7ECE8"/>
                </a:solidFill>
                <a:latin typeface="Calibri"/>
              </a:rPr>
              <a:t>доставка в УТ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3207" y="3246120"/>
            <a:ext cx="685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28090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64727" y="228600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03C46"/>
          </a:solidFill>
          <a:ln w="19050">
            <a:solidFill>
              <a:srgbClr val="9B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36327" y="2606040"/>
            <a:ext cx="640080" cy="640080"/>
          </a:xfrm>
          <a:prstGeom prst="ellipse">
            <a:avLst/>
          </a:prstGeom>
          <a:solidFill>
            <a:srgbClr val="9BE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6327" y="258775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2E36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607" y="338328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1С:Управление торговлей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93327" y="3977639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D7ECE8"/>
                </a:solidFill>
                <a:latin typeface="Calibri"/>
              </a:rPr>
              <a:t>Расширение: приём данных,</a:t>
            </a:r>
          </a:p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D7ECE8"/>
                </a:solidFill>
                <a:latin typeface="Calibri"/>
              </a:rPr>
              <a:t>7 рабочих мест</a:t>
            </a:r>
          </a:p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D7ECE8"/>
                </a:solidFill>
                <a:latin typeface="Calibri"/>
              </a:rPr>
              <a:t>супервайзера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A9CDC7"/>
                </a:solidFill>
                <a:latin typeface="Calibri"/>
              </a:rPr>
              <a:t>Обмен двусторонний: справочники и задания идут на телефон, документы и трек — обратно в УТ.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7313A"/>
                </a:solidFill>
                <a:latin typeface="Calibri"/>
              </a:rPr>
              <a:t>Приложение агента (Android)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C82"/>
                </a:solidFill>
                <a:latin typeface="Calibri"/>
              </a:rPr>
              <a:t>Работает офлайн — набирает заказы без связи и синхронизируется при появлении сети.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112264"/>
            <a:ext cx="548640" cy="5486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939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2E36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196596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13A"/>
                </a:solidFill>
                <a:latin typeface="Calibri"/>
              </a:rPr>
              <a:t>Заказы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2386584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C82"/>
                </a:solidFill>
                <a:latin typeface="Calibri"/>
              </a:rPr>
              <a:t>набор по каталогу с ценами и остатками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90872" y="2112264"/>
            <a:ext cx="548640" cy="5486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0939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2E36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67528" y="196596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13A"/>
                </a:solidFill>
                <a:latin typeface="Calibri"/>
              </a:rPr>
              <a:t>Оплаты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2386584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C82"/>
                </a:solidFill>
                <a:latin typeface="Calibri"/>
              </a:rPr>
              <a:t>приём наличных, ПКО в 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78308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85632" y="2112264"/>
            <a:ext cx="548640" cy="5486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5632" y="20939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2E36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62288" y="196596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13A"/>
                </a:solidFill>
                <a:latin typeface="Calibri"/>
              </a:rPr>
              <a:t>Визиты с GPS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2288" y="2386584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C82"/>
                </a:solidFill>
                <a:latin typeface="Calibri"/>
              </a:rPr>
              <a:t>фиксация посещения и координат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4612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6112" y="3575303"/>
            <a:ext cx="548640" cy="5486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55701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2E36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342900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13A"/>
                </a:solidFill>
                <a:latin typeface="Calibri"/>
              </a:rPr>
              <a:t>Задания и маршруты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849624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C82"/>
                </a:solidFill>
                <a:latin typeface="Calibri"/>
              </a:rPr>
              <a:t>план обхода на день из УТ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24612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90872" y="3575303"/>
            <a:ext cx="548640" cy="5486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0872" y="355701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2E36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67528" y="342900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13A"/>
                </a:solidFill>
                <a:latin typeface="Calibri"/>
              </a:rPr>
              <a:t>Аудит точки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67528" y="3849624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C82"/>
                </a:solidFill>
                <a:latin typeface="Calibri"/>
              </a:rPr>
              <a:t>анкета по торговой точке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324612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485632" y="3575303"/>
            <a:ext cx="548640" cy="5486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85632" y="355701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2E36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342900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13A"/>
                </a:solidFill>
                <a:latin typeface="Calibri"/>
              </a:rPr>
              <a:t>Акции и скидки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288" y="3849624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C82"/>
                </a:solidFill>
                <a:latin typeface="Calibri"/>
              </a:rPr>
              <a:t>движок скидок и бонусов на телефоне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70916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96112" y="5038344"/>
            <a:ext cx="548640" cy="5486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02005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2E36"/>
                </a:solidFill>
                <a:latin typeface="Calibri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72768" y="489204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13A"/>
                </a:solidFill>
                <a:latin typeface="Calibri"/>
              </a:rPr>
              <a:t>Заявка на клиента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2768" y="5312664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C82"/>
                </a:solidFill>
                <a:latin typeface="Calibri"/>
              </a:rPr>
              <a:t>агент предлагает новую точку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34840" y="470916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690872" y="5038344"/>
            <a:ext cx="548640" cy="5486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90872" y="502005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2E36"/>
                </a:solidFill>
                <a:latin typeface="Calibr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67528" y="489204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13A"/>
                </a:solidFill>
                <a:latin typeface="Calibri"/>
              </a:rPr>
              <a:t>QR-подключение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67528" y="5312664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C82"/>
                </a:solidFill>
                <a:latin typeface="Calibri"/>
              </a:rPr>
              <a:t>быстрый вход по QR-коду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0" y="470916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485632" y="5038344"/>
            <a:ext cx="548640" cy="5486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85632" y="502005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2E36"/>
                </a:solidFill>
                <a:latin typeface="Calibri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489204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13A"/>
                </a:solidFill>
                <a:latin typeface="Calibri"/>
              </a:rPr>
              <a:t>Фоновый трек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2288" y="5312664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C82"/>
                </a:solidFill>
                <a:latin typeface="Calibri"/>
              </a:rPr>
              <a:t>путь агента в рабочие часы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7313A"/>
                </a:solidFill>
                <a:latin typeface="Calibri"/>
              </a:rPr>
              <a:t>Рабочие места супервайзера в 1С:УТ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C82"/>
                </a:solidFill>
                <a:latin typeface="Calibri"/>
              </a:rPr>
              <a:t>Семь внешних обработок — над типовыми объектами УТ, без «тяжёлых» доработок конфигурации.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5349240" cy="11430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075688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65960"/>
            <a:ext cx="4160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13A"/>
                </a:solidFill>
                <a:latin typeface="Calibri"/>
              </a:rPr>
              <a:t>Отгрузка заказов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368296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C82"/>
                </a:solidFill>
                <a:latin typeface="Calibri"/>
              </a:rPr>
              <a:t>реализация на основании заказа агента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349240" cy="11430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37959" y="2075688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20574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59" y="1965960"/>
            <a:ext cx="4160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13A"/>
                </a:solidFill>
                <a:latin typeface="Calibri"/>
              </a:rPr>
              <a:t>Постановка заданий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59" y="2368296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C82"/>
                </a:solidFill>
                <a:latin typeface="Calibri"/>
              </a:rPr>
              <a:t>массовые задания агенту, в т.ч. по маршруту дня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27248"/>
            <a:ext cx="5349240" cy="11430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19856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015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310128"/>
            <a:ext cx="4160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13A"/>
                </a:solidFill>
                <a:latin typeface="Calibri"/>
              </a:rPr>
              <a:t>Формирование MML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712463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C82"/>
                </a:solidFill>
                <a:latin typeface="Calibri"/>
              </a:rPr>
              <a:t>матрица ассортимента магазина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27248"/>
            <a:ext cx="5349240" cy="11430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37959" y="3419856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34015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59" y="3310128"/>
            <a:ext cx="4160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13A"/>
                </a:solidFill>
                <a:latin typeface="Calibri"/>
              </a:rPr>
              <a:t>QR-подключение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59" y="3712463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C82"/>
                </a:solidFill>
                <a:latin typeface="Calibri"/>
              </a:rPr>
              <a:t>QR для входа агента в приложение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71416"/>
            <a:ext cx="5349240" cy="11430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4764024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74573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654296"/>
            <a:ext cx="4160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13A"/>
                </a:solidFill>
                <a:latin typeface="Calibri"/>
              </a:rPr>
              <a:t>Карта и планировщик маршрутов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056631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C82"/>
                </a:solidFill>
                <a:latin typeface="Calibri"/>
              </a:rPr>
              <a:t>маршрут на день недели на карте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471416"/>
            <a:ext cx="5349240" cy="11430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37959" y="4764024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59" y="474573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59" y="4654296"/>
            <a:ext cx="4160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13A"/>
                </a:solidFill>
                <a:latin typeface="Calibri"/>
              </a:rPr>
              <a:t>Приём заявок клиентов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59" y="5056631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C82"/>
                </a:solidFill>
                <a:latin typeface="Calibri"/>
              </a:rPr>
              <a:t>завести партнёра/контрагента по заявке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815584"/>
            <a:ext cx="5349240" cy="11430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4400" y="6108192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608990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5998464"/>
            <a:ext cx="4160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7313A"/>
                </a:solidFill>
                <a:latin typeface="Calibri"/>
              </a:rPr>
              <a:t>Просмотр трека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0200" y="6400800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C82"/>
                </a:solidFill>
                <a:latin typeface="Calibri"/>
              </a:rPr>
              <a:t>путь агента за период и время у клиентов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7313A"/>
                </a:solidFill>
                <a:latin typeface="Calibri"/>
              </a:rPr>
              <a:t>Обмен с 1С:УТ — что синхронизируется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5212080" cy="45720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28090"/>
                </a:solidFill>
                <a:latin typeface="Calibri"/>
              </a:rPr>
              <a:t>Из УТ → на телефон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↓  </a:t>
            </a:r>
            <a:r>
              <a:rPr sz="1500">
                <a:solidFill>
                  <a:srgbClr val="17313A"/>
                </a:solidFill>
                <a:latin typeface="Calibri"/>
              </a:rPr>
              <a:t>Товары, категории, цены, остатки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↓  </a:t>
            </a:r>
            <a:r>
              <a:rPr sz="1500">
                <a:solidFill>
                  <a:srgbClr val="17313A"/>
                </a:solidFill>
                <a:latin typeface="Calibri"/>
              </a:rPr>
              <a:t>Клиенты (с долгом и лимитом)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↓  </a:t>
            </a:r>
            <a:r>
              <a:rPr sz="1500">
                <a:solidFill>
                  <a:srgbClr val="17313A"/>
                </a:solidFill>
                <a:latin typeface="Calibri"/>
              </a:rPr>
              <a:t>Маршруты и задания агента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↓  </a:t>
            </a:r>
            <a:r>
              <a:rPr sz="1500">
                <a:solidFill>
                  <a:srgbClr val="17313A"/>
                </a:solidFill>
                <a:latin typeface="Calibri"/>
              </a:rPr>
              <a:t>Акции и условия скидок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↓  </a:t>
            </a:r>
            <a:r>
              <a:rPr sz="1500">
                <a:solidFill>
                  <a:srgbClr val="17313A"/>
                </a:solidFill>
                <a:latin typeface="Calibri"/>
              </a:rPr>
              <a:t>Вопросы аудита точки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↓  </a:t>
            </a:r>
            <a:r>
              <a:rPr sz="1500">
                <a:solidFill>
                  <a:srgbClr val="17313A"/>
                </a:solidFill>
                <a:latin typeface="Calibri"/>
              </a:rPr>
              <a:t>Учётки и права 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212080" cy="4572000"/>
          </a:xfrm>
          <a:prstGeom prst="roundRect">
            <a:avLst>
              <a:gd name="adj" fmla="val 6000"/>
            </a:avLst>
          </a:prstGeom>
          <a:solidFill>
            <a:srgbClr val="E8F5F1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28090"/>
                </a:solidFill>
                <a:latin typeface="Calibri"/>
              </a:rPr>
              <a:t>С телефона → в УТ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31720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↑  </a:t>
            </a:r>
            <a:r>
              <a:rPr sz="1500">
                <a:solidFill>
                  <a:srgbClr val="17313A"/>
                </a:solidFill>
                <a:latin typeface="Calibri"/>
              </a:rPr>
              <a:t>Заказы клиентов (с проведением)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↑  </a:t>
            </a:r>
            <a:r>
              <a:rPr sz="1500">
                <a:solidFill>
                  <a:srgbClr val="17313A"/>
                </a:solidFill>
                <a:latin typeface="Calibri"/>
              </a:rPr>
              <a:t>Оплаты (ПКО)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↑  </a:t>
            </a:r>
            <a:r>
              <a:rPr sz="1500">
                <a:solidFill>
                  <a:srgbClr val="17313A"/>
                </a:solidFill>
                <a:latin typeface="Calibri"/>
              </a:rPr>
              <a:t>Визиты и координаты точек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↑  </a:t>
            </a:r>
            <a:r>
              <a:rPr sz="1500">
                <a:solidFill>
                  <a:srgbClr val="17313A"/>
                </a:solidFill>
                <a:latin typeface="Calibri"/>
              </a:rPr>
              <a:t>Выполнение заданий и фото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↑  </a:t>
            </a:r>
            <a:r>
              <a:rPr sz="1500">
                <a:solidFill>
                  <a:srgbClr val="17313A"/>
                </a:solidFill>
                <a:latin typeface="Calibri"/>
              </a:rPr>
              <a:t>Результаты аудита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↑  </a:t>
            </a:r>
            <a:r>
              <a:rPr sz="1500">
                <a:solidFill>
                  <a:srgbClr val="17313A"/>
                </a:solidFill>
                <a:latin typeface="Calibri"/>
              </a:rPr>
              <a:t>Заявки на новых клиентов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↑  </a:t>
            </a:r>
            <a:r>
              <a:rPr sz="1500">
                <a:solidFill>
                  <a:srgbClr val="17313A"/>
                </a:solidFill>
                <a:latin typeface="Calibri"/>
              </a:rPr>
              <a:t>Трек положения агента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7313A"/>
                </a:solidFill>
                <a:latin typeface="Calibri"/>
              </a:rPr>
              <a:t>Кредитный контроль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10972800" cy="1828800"/>
          </a:xfrm>
          <a:prstGeom prst="roundRect">
            <a:avLst>
              <a:gd name="adj" fmla="val 6000"/>
            </a:avLst>
          </a:prstGeom>
          <a:solidFill>
            <a:srgbClr val="E8F5F1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24128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17313A"/>
                </a:solidFill>
                <a:latin typeface="Calibri"/>
              </a:rPr>
              <a:t>Долг, лимит и просрочка клиента приходят из УТ. Агент видит статус клиента, а заказ должнику блокируется по правилам офиса — деньги под контролем.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7947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44268" y="4114800"/>
            <a:ext cx="512064" cy="512064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475488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7AE60"/>
                </a:solidFill>
                <a:latin typeface="Calibri"/>
              </a:rPr>
              <a:t>Рабочий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12080"/>
            <a:ext cx="2971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C82"/>
                </a:solidFill>
                <a:latin typeface="Calibri"/>
              </a:rPr>
              <a:t>нет просрочки, заказ проходит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947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893307" y="4114800"/>
            <a:ext cx="512064" cy="512064"/>
          </a:xfrm>
          <a:prstGeom prst="ellipse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75488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E67E22"/>
                </a:solidFill>
                <a:latin typeface="Calibri"/>
              </a:rPr>
              <a:t>Проблемный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5212080"/>
            <a:ext cx="2971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C82"/>
                </a:solidFill>
                <a:latin typeface="Calibri"/>
              </a:rPr>
              <a:t>есть просрочка — предупреждение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37947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42348" y="4114800"/>
            <a:ext cx="512064" cy="51206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39" y="475488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C0392B"/>
                </a:solidFill>
                <a:latin typeface="Calibri"/>
              </a:rPr>
              <a:t>Плохой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5212080"/>
            <a:ext cx="2971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C82"/>
                </a:solidFill>
                <a:latin typeface="Calibri"/>
              </a:rPr>
              <a:t>блок заказа до погашения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Фоновый трек агента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D7ECE8"/>
                </a:solidFill>
                <a:latin typeface="Calibri"/>
              </a:rPr>
              <a:t>Телефон в рабочие часы фиксирует положение и сразу отправляет на сервер.</a:t>
            </a:r>
          </a:p>
          <a:p>
            <a:pPr algn="l">
              <a:lnSpc>
                <a:spcPct val="120000"/>
              </a:lnSpc>
            </a:pPr>
            <a:r>
              <a:rPr sz="1600" b="0">
                <a:solidFill>
                  <a:srgbClr val="D7ECE8"/>
                </a:solidFill>
                <a:latin typeface="Calibri"/>
              </a:rPr>
              <a:t>Супервайзер видит фактический путь и время у каждого клиента.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5257800" cy="1600200"/>
          </a:xfrm>
          <a:prstGeom prst="roundRect">
            <a:avLst>
              <a:gd name="adj" fmla="val 6000"/>
            </a:avLst>
          </a:prstGeom>
          <a:solidFill>
            <a:srgbClr val="103C46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971800"/>
            <a:ext cx="594360" cy="59436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53512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2E36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743200"/>
            <a:ext cx="4069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Где агент сейчас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218688"/>
            <a:ext cx="4069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D7ECE8"/>
                </a:solidFill>
                <a:latin typeface="Calibri"/>
              </a:rPr>
              <a:t>актуальное положение по треку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468880"/>
            <a:ext cx="5257800" cy="1600200"/>
          </a:xfrm>
          <a:prstGeom prst="roundRect">
            <a:avLst>
              <a:gd name="adj" fmla="val 6000"/>
            </a:avLst>
          </a:prstGeom>
          <a:solidFill>
            <a:srgbClr val="103C46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6520" y="2971800"/>
            <a:ext cx="594360" cy="59436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953512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2E36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743200"/>
            <a:ext cx="4069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Путь за период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3218688"/>
            <a:ext cx="4069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D7ECE8"/>
                </a:solidFill>
                <a:latin typeface="Calibri"/>
              </a:rPr>
              <a:t>линия маршрута на карте, длина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43400"/>
            <a:ext cx="5257800" cy="1600200"/>
          </a:xfrm>
          <a:prstGeom prst="roundRect">
            <a:avLst>
              <a:gd name="adj" fmla="val 6000"/>
            </a:avLst>
          </a:prstGeom>
          <a:solidFill>
            <a:srgbClr val="103C46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4846320"/>
            <a:ext cx="594360" cy="59436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828032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2E36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617720"/>
            <a:ext cx="4069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Время у клиента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093208"/>
            <a:ext cx="4069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D7ECE8"/>
                </a:solidFill>
                <a:latin typeface="Calibri"/>
              </a:rPr>
              <a:t>приход/уход и минуты по каждой точке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343400"/>
            <a:ext cx="5257800" cy="1600200"/>
          </a:xfrm>
          <a:prstGeom prst="roundRect">
            <a:avLst>
              <a:gd name="adj" fmla="val 6000"/>
            </a:avLst>
          </a:prstGeom>
          <a:solidFill>
            <a:srgbClr val="103C46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4846320"/>
            <a:ext cx="594360" cy="59436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828032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2E36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4617720"/>
            <a:ext cx="4069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Дисциплина обхода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5093208"/>
            <a:ext cx="4069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D7ECE8"/>
                </a:solidFill>
                <a:latin typeface="Calibri"/>
              </a:rPr>
              <a:t>сверка факта с плановым маршрутом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7313A"/>
                </a:solidFill>
                <a:latin typeface="Calibri"/>
              </a:rPr>
              <a:t>Архитектура и надёжность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8288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28090"/>
                </a:solidFill>
                <a:latin typeface="Calibri"/>
              </a:rPr>
              <a:t>Сервер-шина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2377440"/>
            <a:ext cx="29992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7313A"/>
                </a:solidFill>
                <a:latin typeface="Calibri"/>
              </a:rPr>
              <a:t>FastAPI + PostgreSQL на выделенном сервере. Приём с телефонов и доставка в УТ.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554480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27448" y="18288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28090"/>
                </a:solidFill>
                <a:latin typeface="Calibri"/>
              </a:rPr>
              <a:t>Расширение УТ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7448" y="2377440"/>
            <a:ext cx="29992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7313A"/>
                </a:solidFill>
                <a:latin typeface="Calibri"/>
              </a:rPr>
              <a:t>HTTP-сервис в расширении конфигурации — без изменения типовой УТ.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554480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22208" y="18288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28090"/>
                </a:solidFill>
                <a:latin typeface="Calibri"/>
              </a:rPr>
              <a:t>Безопасность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22208" y="2377440"/>
            <a:ext cx="29992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7313A"/>
                </a:solidFill>
                <a:latin typeface="Calibri"/>
              </a:rPr>
              <a:t>HTTPS с сертификатом, вход по токену устройства, привилегированная запись.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25195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28090"/>
                </a:solidFill>
                <a:latin typeface="Calibri"/>
              </a:rPr>
              <a:t>Надёжность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800600"/>
            <a:ext cx="29992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7313A"/>
                </a:solidFill>
                <a:latin typeface="Calibri"/>
              </a:rPr>
              <a:t>Очереди на телефоне и сервере, идемпотентность, авто-повтор при сбоях связи.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3977639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425195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28090"/>
                </a:solidFill>
                <a:latin typeface="Calibri"/>
              </a:rPr>
              <a:t>Офлайн-first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4800600"/>
            <a:ext cx="29992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7313A"/>
                </a:solidFill>
                <a:latin typeface="Calibri"/>
              </a:rPr>
              <a:t>Агент работает без сети; данные не теряются, уходят при обмене.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977639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425195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28090"/>
                </a:solidFill>
                <a:latin typeface="Calibri"/>
              </a:rPr>
              <a:t>Расширяемость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4800600"/>
            <a:ext cx="29992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7313A"/>
                </a:solidFill>
                <a:latin typeface="Calibri"/>
              </a:rPr>
              <a:t>Новые методы обмена и рабочие места добавляются модульно.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7313A"/>
                </a:solidFill>
                <a:latin typeface="Calibri"/>
              </a:rPr>
              <a:t>Статус: что уже работает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E8F5F1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19" y="1856232"/>
            <a:ext cx="2514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28090"/>
                </a:solidFill>
                <a:latin typeface="Calibri"/>
              </a:rPr>
              <a:t>4 471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C82"/>
                </a:solidFill>
                <a:latin typeface="Calibri"/>
              </a:rPr>
              <a:t>клиента в системе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160020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E8F5F1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856232"/>
            <a:ext cx="2514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28090"/>
                </a:solidFill>
                <a:latin typeface="Calibri"/>
              </a:rPr>
              <a:t>1 354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697480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C82"/>
                </a:solidFill>
                <a:latin typeface="Calibri"/>
              </a:rPr>
              <a:t>товара в каталоге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0020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E8F5F1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56232"/>
            <a:ext cx="2514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28090"/>
                </a:solidFill>
                <a:latin typeface="Calibri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697480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C82"/>
                </a:solidFill>
                <a:latin typeface="Calibri"/>
              </a:rPr>
              <a:t>рабочих мест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0020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E8F5F1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1856232"/>
            <a:ext cx="2514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28090"/>
                </a:solidFill>
                <a:latin typeface="Calibri"/>
              </a:rPr>
              <a:t>на живой базе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2697480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C82"/>
                </a:solidFill>
                <a:latin typeface="Calibri"/>
              </a:rPr>
              <a:t>заказы и оплаты проведены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66160"/>
            <a:ext cx="10972800" cy="265176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490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7313A"/>
                </a:solidFill>
                <a:latin typeface="Calibri"/>
              </a:rPr>
              <a:t>Готово и проверено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2519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✓  </a:t>
            </a:r>
            <a:r>
              <a:rPr sz="1500">
                <a:solidFill>
                  <a:srgbClr val="17313A"/>
                </a:solidFill>
                <a:latin typeface="Calibri"/>
              </a:rPr>
              <a:t>Обмен справочников принят на живой базе УТ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✓  </a:t>
            </a:r>
            <a:r>
              <a:rPr sz="1500">
                <a:solidFill>
                  <a:srgbClr val="17313A"/>
                </a:solidFill>
                <a:latin typeface="Calibri"/>
              </a:rPr>
              <a:t>Приём заказов и оплат — проведение в УТ по договорам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✓  </a:t>
            </a:r>
            <a:r>
              <a:rPr sz="1500">
                <a:solidFill>
                  <a:srgbClr val="17313A"/>
                </a:solidFill>
                <a:latin typeface="Calibri"/>
              </a:rPr>
              <a:t>Онбординг агентов: логин/пароль и права из УТ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✓  </a:t>
            </a:r>
            <a:r>
              <a:rPr sz="1500">
                <a:solidFill>
                  <a:srgbClr val="17313A"/>
                </a:solidFill>
                <a:latin typeface="Calibri"/>
              </a:rPr>
              <a:t>Задания, маршруты, аудит, акции, заявки клиентов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28090"/>
                </a:solidFill>
                <a:latin typeface="Calibri"/>
              </a:rPr>
              <a:t>✓  </a:t>
            </a:r>
            <a:r>
              <a:rPr sz="1500">
                <a:solidFill>
                  <a:srgbClr val="17313A"/>
                </a:solidFill>
                <a:latin typeface="Calibri"/>
              </a:rPr>
              <a:t>Фоновый трек агента и просмотр пути за период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7313A"/>
                </a:solidFill>
                <a:latin typeface="Calibri"/>
              </a:rPr>
              <a:t>Что дальше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1737360"/>
            <a:ext cx="603504" cy="60350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19072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0" y="1691639"/>
            <a:ext cx="9875520" cy="73152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20240" y="1691639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7313A"/>
                </a:solidFill>
                <a:latin typeface="Calibri"/>
              </a:rPr>
              <a:t>Активация в УТ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91639"/>
            <a:ext cx="6126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C82"/>
                </a:solidFill>
                <a:latin typeface="Calibri"/>
              </a:rPr>
              <a:t>загрузка объектов и рабочих мест в конфигурацию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606039"/>
            <a:ext cx="603504" cy="603504"/>
          </a:xfrm>
          <a:prstGeom prst="ellipse">
            <a:avLst/>
          </a:prstGeom>
          <a:solidFill>
            <a:srgbClr val="508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87751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45920" y="2560320"/>
            <a:ext cx="9875520" cy="73152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2560320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7313A"/>
                </a:solidFill>
                <a:latin typeface="Calibri"/>
              </a:rPr>
              <a:t>Договоры клиентам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560320"/>
            <a:ext cx="6126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C82"/>
                </a:solidFill>
                <a:latin typeface="Calibri"/>
              </a:rPr>
              <a:t>чтобы заказы проходили по всем клиентам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474720"/>
            <a:ext cx="603504" cy="603504"/>
          </a:xfrm>
          <a:prstGeom prst="ellipse">
            <a:avLst/>
          </a:prstGeom>
          <a:solidFill>
            <a:srgbClr val="508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456432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45920" y="3429000"/>
            <a:ext cx="9875520" cy="73152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3429000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7313A"/>
                </a:solidFill>
                <a:latin typeface="Calibri"/>
              </a:rPr>
              <a:t>Кредит, фаза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429000"/>
            <a:ext cx="6126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C82"/>
                </a:solidFill>
                <a:latin typeface="Calibri"/>
              </a:rPr>
              <a:t>индивидуальные лимиты агента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4343400"/>
            <a:ext cx="603504" cy="603504"/>
          </a:xfrm>
          <a:prstGeom prst="ellipse">
            <a:avLst/>
          </a:prstGeom>
          <a:solidFill>
            <a:srgbClr val="508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325112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45920" y="4297680"/>
            <a:ext cx="9875520" cy="73152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20240" y="4297680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7313A"/>
                </a:solidFill>
                <a:latin typeface="Calibri"/>
              </a:rPr>
              <a:t>Ассортимент (MML)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4297680"/>
            <a:ext cx="6126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C82"/>
                </a:solidFill>
                <a:latin typeface="Calibri"/>
              </a:rPr>
              <a:t>привязка формата и выгрузка матрицы на телефон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5212079"/>
            <a:ext cx="603504" cy="603504"/>
          </a:xfrm>
          <a:prstGeom prst="ellipse">
            <a:avLst/>
          </a:prstGeom>
          <a:solidFill>
            <a:srgbClr val="508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193792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5166359"/>
            <a:ext cx="9875520" cy="73152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 w="12700">
            <a:solidFill>
              <a:srgbClr val="DCE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20240" y="5166359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7313A"/>
                </a:solidFill>
                <a:latin typeface="Calibri"/>
              </a:rPr>
              <a:t>Хранение трека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5166359"/>
            <a:ext cx="6126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C82"/>
                </a:solidFill>
                <a:latin typeface="Calibri"/>
              </a:rPr>
              <a:t>регламент очистки старше 90 дней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0E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2C39A"/>
                </a:solidFill>
                <a:latin typeface="Calibri"/>
              </a:rPr>
              <a:t>Итог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Собственная система торговли,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полностью под контролем компании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57600"/>
            <a:ext cx="100584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02C39A"/>
                </a:solidFill>
                <a:latin typeface="Calibri"/>
              </a:rPr>
              <a:t>✓  </a:t>
            </a:r>
            <a:r>
              <a:rPr sz="1700">
                <a:solidFill>
                  <a:srgbClr val="D7ECE8"/>
                </a:solidFill>
                <a:latin typeface="Calibri"/>
              </a:rPr>
              <a:t>Независимость от стороннего вендора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02C39A"/>
                </a:solidFill>
                <a:latin typeface="Calibri"/>
              </a:rPr>
              <a:t>✓  </a:t>
            </a:r>
            <a:r>
              <a:rPr sz="1700">
                <a:solidFill>
                  <a:srgbClr val="D7ECE8"/>
                </a:solidFill>
                <a:latin typeface="Calibri"/>
              </a:rPr>
              <a:t>Контроль агентов: визиты, маршруты, трек, время у клиентов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02C39A"/>
                </a:solidFill>
                <a:latin typeface="Calibri"/>
              </a:rPr>
              <a:t>✓  </a:t>
            </a:r>
            <a:r>
              <a:rPr sz="1700">
                <a:solidFill>
                  <a:srgbClr val="D7ECE8"/>
                </a:solidFill>
                <a:latin typeface="Calibri"/>
              </a:rPr>
              <a:t>Кредитная дисциплина и единый учёт в 1С:УТ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02C39A"/>
                </a:solidFill>
                <a:latin typeface="Calibri"/>
              </a:rPr>
              <a:t>✓  </a:t>
            </a:r>
            <a:r>
              <a:rPr sz="1700">
                <a:solidFill>
                  <a:srgbClr val="D7ECE8"/>
                </a:solidFill>
                <a:latin typeface="Calibri"/>
              </a:rPr>
              <a:t>Готова к бою, расширяется под новые задачи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