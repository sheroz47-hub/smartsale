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архитектуры и потоков обмена.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Экраны приложения: список клиентов, карточка, заказ.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АРМ постановки заданий.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АРМ планировщика маршрута на карте.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жизненного цикла заказа: агент → сервер → УТ → долг.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потока трека: телефон → сервер → регистр УТ → просмотрщик.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АРМ просмотра трека за период.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E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3840480"/>
            <a:ext cx="3200400" cy="3200400"/>
          </a:xfrm>
          <a:prstGeom prst="ellipse">
            <a:avLst/>
          </a:prstGeom>
          <a:solidFill>
            <a:srgbClr val="0E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B2E36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18872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SmartSale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>
                <a:solidFill>
                  <a:srgbClr val="D7ECE8"/>
                </a:solidFill>
                <a:latin typeface="Calibri"/>
              </a:rPr>
              <a:t>Мобильная торговля и обмен с 1С:Управление торговлей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CDC7"/>
                </a:solidFill>
                <a:latin typeface="Calibri"/>
              </a:rPr>
              <a:t>Собственное решение взамен «Моби-С» — приложение торгового агента,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CDC7"/>
                </a:solidFill>
                <a:latin typeface="Calibri"/>
              </a:rPr>
              <a:t>двусторонний обмен с УТ и рабочие места супервайзера.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23560"/>
            <a:ext cx="2926080" cy="3175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8B4AD"/>
                </a:solidFill>
                <a:latin typeface="Calibri"/>
              </a:rPr>
              <a:t>Презентация для руководства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Зачем: своя система вместо стороннего продукта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50808E"/>
                </a:solidFill>
                <a:latin typeface="Calibri"/>
              </a:rPr>
              <a:t>БЫЛО — «Моби-С»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50808E"/>
                </a:solidFill>
                <a:latin typeface="Calibri"/>
              </a:rPr>
              <a:t>•  </a:t>
            </a:r>
            <a:r>
              <a:rPr sz="1500">
                <a:solidFill>
                  <a:srgbClr val="17313A"/>
                </a:solidFill>
                <a:latin typeface="Calibri"/>
              </a:rPr>
              <a:t>Продукт отклонён — не подошёл под процессы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50808E"/>
                </a:solidFill>
                <a:latin typeface="Calibri"/>
              </a:rPr>
              <a:t>•  </a:t>
            </a:r>
            <a:r>
              <a:rPr sz="1500">
                <a:solidFill>
                  <a:srgbClr val="17313A"/>
                </a:solidFill>
                <a:latin typeface="Calibri"/>
              </a:rPr>
              <a:t>Зависимость от стороннего вендора и его сроков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50808E"/>
                </a:solidFill>
                <a:latin typeface="Calibri"/>
              </a:rPr>
              <a:t>•  </a:t>
            </a:r>
            <a:r>
              <a:rPr sz="1500">
                <a:solidFill>
                  <a:srgbClr val="17313A"/>
                </a:solidFill>
                <a:latin typeface="Calibri"/>
              </a:rPr>
              <a:t>Ограниченные доработки под наши задачи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50808E"/>
                </a:solidFill>
                <a:latin typeface="Calibri"/>
              </a:rPr>
              <a:t>•  </a:t>
            </a:r>
            <a:r>
              <a:rPr sz="1500">
                <a:solidFill>
                  <a:srgbClr val="17313A"/>
                </a:solidFill>
                <a:latin typeface="Calibri"/>
              </a:rPr>
              <a:t>Скидки и акции агенту видны не полностью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50808E"/>
                </a:solidFill>
                <a:latin typeface="Calibri"/>
              </a:rPr>
              <a:t>•  </a:t>
            </a:r>
            <a:r>
              <a:rPr sz="1500">
                <a:solidFill>
                  <a:srgbClr val="17313A"/>
                </a:solidFill>
                <a:latin typeface="Calibri"/>
              </a:rPr>
              <a:t>Мастер-данные и логика — в чужом продукте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  <a:latin typeface="Calibri"/>
              </a:rPr>
              <a:t>СТАЛО — SmartSale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Полностью своё решение, исходники у нас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Доработки без ограничений и по нашим срокам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Единая учётная система — всё сводится в 1С:УТ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Свой движок акций, кредитный контроль, трек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Мастер-данные и правила — под контролем офиса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Ценность для бизнеса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4708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65376"/>
            <a:ext cx="2377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Независимость от вендора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06039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C82"/>
                </a:solidFill>
                <a:latin typeface="Calibri"/>
              </a:rPr>
              <a:t>Своё решение, исходный код и развитие — внутри компании.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60" y="184708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65376"/>
            <a:ext cx="2377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Контроль работы агентов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606039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C82"/>
                </a:solidFill>
                <a:latin typeface="Calibri"/>
              </a:rPr>
              <a:t>Визиты с GPS, фоновый трек маршрута, время у каждого клиента.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184708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865376"/>
            <a:ext cx="2377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Кредитная дисциплина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606039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C82"/>
                </a:solidFill>
                <a:latin typeface="Calibri"/>
              </a:rPr>
              <a:t>Лимиты и просрочка из УТ, блокировка заказов должникам.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2702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88536"/>
            <a:ext cx="2377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Гибкие доработки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029200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C82"/>
                </a:solidFill>
                <a:latin typeface="Calibri"/>
              </a:rPr>
              <a:t>Новые функции и рабочие места — по мере надобности.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42702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251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288536"/>
            <a:ext cx="2377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Данные под контролем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5029200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C82"/>
                </a:solidFill>
                <a:latin typeface="Calibri"/>
              </a:rPr>
              <a:t>Новых клиентов и правила заводит офис, а не агент в поле.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03920" y="42702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251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288536"/>
            <a:ext cx="2377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Единый учёт в 1С:УТ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5029200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C82"/>
                </a:solidFill>
                <a:latin typeface="Calibri"/>
              </a:rPr>
              <a:t>Заказы, оплаты, задания, координаты — сразу в учёте.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Из чего состоит система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3687" y="22860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15287" y="260604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5287" y="25877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567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Приложение агента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87" y="39776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Android, работает офлайн: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заказы, оплаты, визиты,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задания, трек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2687" y="3246120"/>
            <a:ext cx="685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207" y="22860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9050">
            <a:solidFill>
              <a:srgbClr val="58C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5807" y="2606040"/>
            <a:ext cx="640080" cy="640080"/>
          </a:xfrm>
          <a:prstGeom prst="ellipse">
            <a:avLst/>
          </a:prstGeom>
          <a:solidFill>
            <a:srgbClr val="58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807" y="25877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Сервер-шина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39776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Приём с телефонов,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хранение, надёжная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доставка в 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207" y="3246120"/>
            <a:ext cx="685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4727" y="22860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9050">
            <a:solidFill>
              <a:srgbClr val="9B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6327" y="2606040"/>
            <a:ext cx="640080" cy="640080"/>
          </a:xfrm>
          <a:prstGeom prst="ellipse">
            <a:avLst/>
          </a:prstGeom>
          <a:solidFill>
            <a:srgbClr val="9B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6327" y="25877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607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1С:Управление торговлей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3327" y="39776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Расширение: приём данных,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7 рабочих мест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D7ECE8"/>
                </a:solidFill>
                <a:latin typeface="Calibri"/>
              </a:rPr>
              <a:t>супервайзера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A9CDC7"/>
                </a:solidFill>
                <a:latin typeface="Calibri"/>
              </a:rPr>
              <a:t>Обмен двусторонний: справочники и задания идут на телефон, документы и трек — обратно в УТ.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Схема работы: архитектура и обмен</a:t>
            </a:r>
          </a:p>
        </p:txBody>
      </p:sp>
      <p:pic>
        <p:nvPicPr>
          <p:cNvPr id="3" name="Picture 2" descr="dia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9054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82512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C82"/>
                </a:solidFill>
                <a:latin typeface="Calibri"/>
              </a:rPr>
              <a:t>Телефон → сервер-шина → 1С:УТ. Обмен двусторонний, по расписанию.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Приложение агента (Android)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Работает офлайн — набирает заказы без связи и синхронизируется при появлении сети.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112264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939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9659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Заказы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8658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набор по каталогу с ценами и остатками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90872" y="2112264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939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19659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Оплаты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38658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приём наличных, ПКО в УТ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8308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2112264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0939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19659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Визиты с GPS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238658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фиксация посещения и координат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575303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5701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429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Задания и маршруты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4962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план обхода на день из УТ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4612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90872" y="3575303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55701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3429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Аудит точки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384962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анкета по торговой точке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24612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85632" y="3575303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55701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3429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Акции и скидки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384962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движок скидок и бонусов на телефоне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70916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5038344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0200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48920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Заявка на клиента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531266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агент предлагает новую точку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470916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90872" y="5038344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0872" y="50200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7528" y="48920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QR-подключение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7528" y="531266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быстрый вход по QR-коду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470916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85632" y="5038344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50200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8920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Фоновый трек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8" y="531266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C82"/>
                </a:solidFill>
                <a:latin typeface="Calibri"/>
              </a:rPr>
              <a:t>путь агента в рабочие часы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Приложение агента: экраны (макет)</a:t>
            </a:r>
          </a:p>
        </p:txBody>
      </p:sp>
      <p:pic>
        <p:nvPicPr>
          <p:cNvPr id="3" name="Picture 2" descr="app_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08760"/>
            <a:ext cx="2468880" cy="5052592"/>
          </a:xfrm>
          <a:prstGeom prst="rect">
            <a:avLst/>
          </a:prstGeom>
        </p:spPr>
      </p:pic>
      <p:pic>
        <p:nvPicPr>
          <p:cNvPr id="4" name="Picture 3" descr="app_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08760"/>
            <a:ext cx="2468880" cy="5052592"/>
          </a:xfrm>
          <a:prstGeom prst="rect">
            <a:avLst/>
          </a:prstGeom>
        </p:spPr>
      </p:pic>
      <p:pic>
        <p:nvPicPr>
          <p:cNvPr id="5" name="Picture 4" descr="app_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08760"/>
            <a:ext cx="2468880" cy="5052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82512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C82"/>
                </a:solidFill>
                <a:latin typeface="Calibri"/>
              </a:rPr>
              <a:t>Клиенты дня · карточка клиента с долгом и статусом · набор заказа. Иллюстративный макет.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Рабочие места супервайзера в 1С:УТ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Семь внешних обработок — над типовыми объектами УТ, без «тяжёлых» доработок конфигурации.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75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Отгрузка заказов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6829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реализация на основании заказа агента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2075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96596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Постановка заданий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36829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массовые задания агенту, в т.ч. по маршруту дня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27248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1985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10128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Формирование MML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12463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матрица ассортимента магазина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341985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310128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QR-подключение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712463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QR для входа агента в приложение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71416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476402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457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654296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Карта и планировщик маршрутов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056631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маршрут на день недели на карте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471416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37959" y="476402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7457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4654296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Приём заявок клиентов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завести партнёра/контрагента по заявке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815584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" y="610819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089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998464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313A"/>
                </a:solidFill>
                <a:latin typeface="Calibri"/>
              </a:rPr>
              <a:t>Просмотр трека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640080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C82"/>
                </a:solidFill>
                <a:latin typeface="Calibri"/>
              </a:rPr>
              <a:t>путь агента за период и время у клиентов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Рабочее место: постановка заданий (макет)</a:t>
            </a:r>
          </a:p>
        </p:txBody>
      </p:sp>
      <p:pic>
        <p:nvPicPr>
          <p:cNvPr id="3" name="Picture 2" descr="arm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463040"/>
            <a:ext cx="8778240" cy="5149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82512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C82"/>
                </a:solidFill>
                <a:latin typeface="Calibri"/>
              </a:rPr>
              <a:t>Агент и день маршрута → заполнить клиентов (в т.ч. по маршруту) → поставить задания. Иллюстративный макет.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Рабочее место: планировщик маршрута (макет)</a:t>
            </a:r>
          </a:p>
        </p:txBody>
      </p:sp>
      <p:pic>
        <p:nvPicPr>
          <p:cNvPr id="3" name="Picture 2" descr="arm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463040"/>
            <a:ext cx="8778240" cy="5149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82512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C82"/>
                </a:solidFill>
                <a:latin typeface="Calibri"/>
              </a:rPr>
              <a:t>Список клиентов слева, маршрут на карте справа: зелёные — в маршруте, синие — доступны. Иллюстративный макет.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Обмен с 1С:УТ — что синхронизируется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12080" cy="45720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28090"/>
                </a:solidFill>
                <a:latin typeface="Calibri"/>
              </a:rPr>
              <a:t>Из УТ → на телефон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↓  </a:t>
            </a:r>
            <a:r>
              <a:rPr sz="1500">
                <a:solidFill>
                  <a:srgbClr val="17313A"/>
                </a:solidFill>
                <a:latin typeface="Calibri"/>
              </a:rPr>
              <a:t>Товары, категории, цены, остатки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↓  </a:t>
            </a:r>
            <a:r>
              <a:rPr sz="1500">
                <a:solidFill>
                  <a:srgbClr val="17313A"/>
                </a:solidFill>
                <a:latin typeface="Calibri"/>
              </a:rPr>
              <a:t>Клиенты (с долгом и лимитом)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↓  </a:t>
            </a:r>
            <a:r>
              <a:rPr sz="1500">
                <a:solidFill>
                  <a:srgbClr val="17313A"/>
                </a:solidFill>
                <a:latin typeface="Calibri"/>
              </a:rPr>
              <a:t>Маршруты и задания агента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↓  </a:t>
            </a:r>
            <a:r>
              <a:rPr sz="1500">
                <a:solidFill>
                  <a:srgbClr val="17313A"/>
                </a:solidFill>
                <a:latin typeface="Calibri"/>
              </a:rPr>
              <a:t>Акции и условия скидок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↓  </a:t>
            </a:r>
            <a:r>
              <a:rPr sz="1500">
                <a:solidFill>
                  <a:srgbClr val="17313A"/>
                </a:solidFill>
                <a:latin typeface="Calibri"/>
              </a:rPr>
              <a:t>Вопросы аудита точки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↓  </a:t>
            </a:r>
            <a:r>
              <a:rPr sz="1500">
                <a:solidFill>
                  <a:srgbClr val="17313A"/>
                </a:solidFill>
                <a:latin typeface="Calibri"/>
              </a:rPr>
              <a:t>Учётки и права агентов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212080" cy="457200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28090"/>
                </a:solidFill>
                <a:latin typeface="Calibri"/>
              </a:rPr>
              <a:t>С телефона → в УТ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Заказы клиентов (с проведением)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Оплаты (ПКО)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Визиты и координаты точек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Выполнение заданий и фото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Результаты аудита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Заявки на новых клиентов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↑  </a:t>
            </a:r>
            <a:r>
              <a:rPr sz="1500">
                <a:solidFill>
                  <a:srgbClr val="17313A"/>
                </a:solidFill>
                <a:latin typeface="Calibri"/>
              </a:rPr>
              <a:t>Трек положения агента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Жизненный цикл заказа</a:t>
            </a:r>
          </a:p>
        </p:txBody>
      </p:sp>
      <p:pic>
        <p:nvPicPr>
          <p:cNvPr id="3" name="Picture 2" descr="diag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0515600" cy="34639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Кредитный контроль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972800" cy="182880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2412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7313A"/>
                </a:solidFill>
                <a:latin typeface="Calibri"/>
              </a:rPr>
              <a:t>Долг, лимит и просрочка клиента приходят из УТ. Агент видит статус клиента, а заказ должнику блокируется по правилам офиса — деньги под контролем.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9476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4268" y="4114800"/>
            <a:ext cx="512064" cy="512064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7548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Calibri"/>
              </a:rPr>
              <a:t>Рабочий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нет просрочки, заказ проходит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3307" y="4114800"/>
            <a:ext cx="512064" cy="51206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7548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Calibri"/>
              </a:rPr>
              <a:t>Проблемный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2120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есть просрочка — предупреждение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379476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2348" y="4114800"/>
            <a:ext cx="512064" cy="51206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47548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Calibri"/>
              </a:rPr>
              <a:t>Плохой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2120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блок заказа до погашения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Фоновый трек агента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D7ECE8"/>
                </a:solidFill>
                <a:latin typeface="Calibri"/>
              </a:rPr>
              <a:t>Телефон в рабочие часы фиксирует положение и сразу отправляет на сервер.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D7ECE8"/>
                </a:solidFill>
                <a:latin typeface="Calibri"/>
              </a:rPr>
              <a:t>Супервайзер видит фактический путь и время у каждого клиента.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971800"/>
            <a:ext cx="594360" cy="5943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5351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Где агент сейчас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18688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D7ECE8"/>
                </a:solidFill>
                <a:latin typeface="Calibri"/>
              </a:rPr>
              <a:t>актуальное положение по треку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971800"/>
            <a:ext cx="594360" cy="5943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95351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74320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Путь за период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218688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D7ECE8"/>
                </a:solidFill>
                <a:latin typeface="Calibri"/>
              </a:rPr>
              <a:t>линия маршрута на карте, длина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846320"/>
            <a:ext cx="594360" cy="5943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2803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1772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Время у клиента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93208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D7ECE8"/>
                </a:solidFill>
                <a:latin typeface="Calibri"/>
              </a:rPr>
              <a:t>приход/уход и минуты по каждой точке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103C4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46320"/>
            <a:ext cx="594360" cy="5943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2803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E3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61772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Дисциплина обхода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093208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D7ECE8"/>
                </a:solidFill>
                <a:latin typeface="Calibri"/>
              </a:rPr>
              <a:t>сверка факта с плановым маршрутом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Трек агента: схема работы</a:t>
            </a:r>
          </a:p>
        </p:txBody>
      </p:sp>
      <p:pic>
        <p:nvPicPr>
          <p:cNvPr id="3" name="Picture 2" descr="diag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0515600" cy="34639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Трек агента: просмотр за период (макет)</a:t>
            </a:r>
          </a:p>
        </p:txBody>
      </p:sp>
      <p:pic>
        <p:nvPicPr>
          <p:cNvPr id="3" name="Picture 2" descr="arm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463040"/>
            <a:ext cx="8778240" cy="5149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82512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C82"/>
                </a:solidFill>
                <a:latin typeface="Calibri"/>
              </a:rPr>
              <a:t>Путь на карте и таблица «приход / уход / минут» по клиентам. Иллюстративный макет.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Архитектура и надёжность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Сервер-шина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377440"/>
            <a:ext cx="2999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7313A"/>
                </a:solidFill>
                <a:latin typeface="Calibri"/>
              </a:rPr>
              <a:t>FastAPI + PostgreSQL на выделенном сервере. Приём с телефонов и доставка в УТ.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7448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Расширение УТ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2377440"/>
            <a:ext cx="2999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7313A"/>
                </a:solidFill>
                <a:latin typeface="Calibri"/>
              </a:rPr>
              <a:t>HTTP-сервис в расширении конфигурации — без изменения типовой УТ.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Безопасность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377440"/>
            <a:ext cx="2999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7313A"/>
                </a:solidFill>
                <a:latin typeface="Calibri"/>
              </a:rPr>
              <a:t>HTTPS с сертификатом, вход по токену устройства, привилегированная запись.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5195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Надёжность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00600"/>
            <a:ext cx="2999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7313A"/>
                </a:solidFill>
                <a:latin typeface="Calibri"/>
              </a:rPr>
              <a:t>Очереди на телефоне и сервере, идемпотентность, авто-повтор при сбоях связи.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25195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Офлайн-first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800600"/>
            <a:ext cx="2999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7313A"/>
                </a:solidFill>
                <a:latin typeface="Calibri"/>
              </a:rPr>
              <a:t>Агент работает без сети; данные не теряются, уходят при обмене.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425195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Расширяемость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4800600"/>
            <a:ext cx="2999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7313A"/>
                </a:solidFill>
                <a:latin typeface="Calibri"/>
              </a:rPr>
              <a:t>Новые методы обмена и рабочие места добавляются модульно.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Статус: что уже работает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856232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28090"/>
                </a:solidFill>
                <a:latin typeface="Calibri"/>
              </a:rPr>
              <a:t>4 471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клиента в системе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6002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56232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28090"/>
                </a:solidFill>
                <a:latin typeface="Calibri"/>
              </a:rPr>
              <a:t>1 354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97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товара в каталоге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56232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28090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рабочих мест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6002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E8F5F1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856232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28090"/>
                </a:solidFill>
                <a:latin typeface="Calibri"/>
              </a:rPr>
              <a:t>на живой базе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697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C82"/>
                </a:solidFill>
                <a:latin typeface="Calibri"/>
              </a:rPr>
              <a:t>заказы и оплаты проведены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10972800" cy="265176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313A"/>
                </a:solidFill>
                <a:latin typeface="Calibri"/>
              </a:rPr>
              <a:t>Готово и проверено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Обмен справочников принят на живой базе УТ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Приём заказов и оплат — проведение в УТ по договорам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Онбординг агентов: логин/пароль и права из УТ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Задания, маршруты, аудит, акции, заявки клиентов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✓  </a:t>
            </a:r>
            <a:r>
              <a:rPr sz="1500">
                <a:solidFill>
                  <a:srgbClr val="17313A"/>
                </a:solidFill>
                <a:latin typeface="Calibri"/>
              </a:rPr>
              <a:t>Фоновый трек агента и просмотр пути за период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7313A"/>
                </a:solidFill>
                <a:latin typeface="Calibri"/>
              </a:rPr>
              <a:t>Что дальше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737360"/>
            <a:ext cx="603504" cy="6035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1907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691639"/>
            <a:ext cx="9875520" cy="7315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691639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Активация в 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691639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загрузка объектов и рабочих мест в конфигурацию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06039"/>
            <a:ext cx="603504" cy="603504"/>
          </a:xfrm>
          <a:prstGeom prst="ellipse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8775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560320"/>
            <a:ext cx="9875520" cy="7315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56032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Договоры клиентам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60320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чтобы заказы проходили по всем клиентам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74720"/>
            <a:ext cx="603504" cy="603504"/>
          </a:xfrm>
          <a:prstGeom prst="ellipse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5643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429000"/>
            <a:ext cx="9875520" cy="7315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2900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Кредит, фаза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429000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индивидуальные лимиты агента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343400"/>
            <a:ext cx="603504" cy="603504"/>
          </a:xfrm>
          <a:prstGeom prst="ellipse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2511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4297680"/>
            <a:ext cx="9875520" cy="7315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429768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Ассортимент (MML)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297680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привязка формата и выгрузка матрицы на телефон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212079"/>
            <a:ext cx="603504" cy="603504"/>
          </a:xfrm>
          <a:prstGeom prst="ellipse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9379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5166359"/>
            <a:ext cx="9875520" cy="7315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166359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7313A"/>
                </a:solidFill>
                <a:latin typeface="Calibri"/>
              </a:rPr>
              <a:t>Хранение трека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66359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C82"/>
                </a:solidFill>
                <a:latin typeface="Calibri"/>
              </a:rPr>
              <a:t>регламент очистки старше 90 дней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E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2C39A"/>
                </a:solidFill>
                <a:latin typeface="Calibri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Собственная система торговли,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полностью под контролем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02C39A"/>
                </a:solidFill>
                <a:latin typeface="Calibri"/>
              </a:rPr>
              <a:t>✓  </a:t>
            </a:r>
            <a:r>
              <a:rPr sz="1700">
                <a:solidFill>
                  <a:srgbClr val="D7ECE8"/>
                </a:solidFill>
                <a:latin typeface="Calibri"/>
              </a:rPr>
              <a:t>Независимость от стороннего вендора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02C39A"/>
                </a:solidFill>
                <a:latin typeface="Calibri"/>
              </a:rPr>
              <a:t>✓  </a:t>
            </a:r>
            <a:r>
              <a:rPr sz="1700">
                <a:solidFill>
                  <a:srgbClr val="D7ECE8"/>
                </a:solidFill>
                <a:latin typeface="Calibri"/>
              </a:rPr>
              <a:t>Контроль агентов: визиты, маршруты, трек, время у клиентов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02C39A"/>
                </a:solidFill>
                <a:latin typeface="Calibri"/>
              </a:rPr>
              <a:t>✓  </a:t>
            </a:r>
            <a:r>
              <a:rPr sz="1700">
                <a:solidFill>
                  <a:srgbClr val="D7ECE8"/>
                </a:solidFill>
                <a:latin typeface="Calibri"/>
              </a:rPr>
              <a:t>Кредитная дисциплина и единый учёт в 1С:УТ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02C39A"/>
                </a:solidFill>
                <a:latin typeface="Calibri"/>
              </a:rPr>
              <a:t>✓  </a:t>
            </a:r>
            <a:r>
              <a:rPr sz="1700">
                <a:solidFill>
                  <a:srgbClr val="D7ECE8"/>
                </a:solidFill>
                <a:latin typeface="Calibri"/>
              </a:rPr>
              <a:t>Готова к бою, расширяется под новые задачи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